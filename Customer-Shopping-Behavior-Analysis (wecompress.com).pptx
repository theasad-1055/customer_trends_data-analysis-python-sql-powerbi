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Default ContentType="image/jpeg" Extension="jpeg"/>
  <Default ContentType="image/jpg" Extension="jpg"/>
  <Default ContentType="image/svg+xml" Extension="svg"/>
  <Default ContentType="image/png" Extension="png"/>
  <Default ContentType="image/gif" Extension="gif"/>
  <Default ContentType="video/mp4" Extension="m4v"/>
  <Default ContentType="video/mp4" Extension="mp4"/>
  <Default ContentType="application/vnd.openxmlformats-officedocument.vmlDrawing" Extension="vml"/>
  <Default ContentType="application/vnd.openxmlformats-officedocument.spreadsheetml.sheet" Extension="xlsx"/>
  <Override ContentType="application/vnd.openxmlformats-officedocument.presentationml.presentation.main+xml" PartName="/ppt/presentation.xml"/>
  <Override ContentType="application/vnd.openxmlformats-officedocument.presentationml.notesMaster+xml" PartName="/ppt/notesMasters/notesMaster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2.xml"/>
  <Override ContentType="application/vnd.openxmlformats-officedocument.presentationml.slideMaster+xml" PartName="/ppt/slideMasters/slideMaster3.xml"/>
  <Override ContentType="application/vnd.openxmlformats-officedocument.presentationml.slide+xml" PartName="/ppt/slides/slide3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5.xml"/>
  <Override ContentType="application/vnd.openxmlformats-officedocument.presentationml.slideMaster+xml" PartName="/ppt/slideMasters/slideMaster6.xml"/>
  <Override ContentType="application/vnd.openxmlformats-officedocument.presentationml.slide+xml" PartName="/ppt/slides/slide6.xml"/>
  <Override ContentType="application/vnd.openxmlformats-officedocument.presentationml.slideMaster+xml" PartName="/ppt/slideMasters/slideMaster7.xml"/>
  <Override ContentType="application/vnd.openxmlformats-officedocument.presentationml.slide+xml" PartName="/ppt/slides/slide7.xml"/>
  <Override ContentType="application/vnd.openxmlformats-officedocument.presentationml.slideMaster+xml" PartName="/ppt/slideMasters/slideMaster8.xml"/>
  <Override ContentType="application/vnd.openxmlformats-officedocument.presentationml.slide+xml" PartName="/ppt/slides/slide8.xml"/>
  <Override ContentType="application/vnd.openxmlformats-officedocument.presentationml.slideMaster+xml" PartName="/ppt/slideMasters/slideMaster9.xml"/>
  <Override ContentType="application/vnd.openxmlformats-officedocument.presentationml.slide+xml" PartName="/ppt/slides/slide9.xml"/>
  <Override ContentType="application/vnd.openxmlformats-officedocument.presentationml.slideMaster+xml" PartName="/ppt/slideMasters/slideMaster10.xml"/>
  <Override ContentType="application/vnd.openxmlformats-officedocument.presentationml.slide+xml" PartName="/ppt/slides/slide10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"1.0" encoding="UTF-8" standalone="yes" ?><Relationships xmlns="http://schemas.openxmlformats.org/package/2006/relationships">
		<Relationship Id="rId1" Target="docProps/app.xml" Type="http://schemas.openxmlformats.org/officeDocument/2006/relationships/extended-properties"/>
		<Relationship Id="rId2" Target="docProps/core.xml" Type="http://schemas.openxmlformats.org/package/2006/relationships/metadata/core-properties"/>
		<Relationship Id="rId3" Target="ppt/presentation.xml" Type="http://schemas.openxmlformats.org/officeDocument/2006/relationships/officeDocument"/>
		<Relationship Id="rId4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Nunito Semi Bold"/>
      <p:regular r:id="rId17"/>
    </p:embeddedFont>
    <p:embeddedFont>
      <p:font typeface="Nunito Semi Bold"/>
      <p:regular r:id="rId18"/>
    </p:embeddedFont>
    <p:embeddedFont>
      <p:font typeface="Nunito Semi Bold"/>
      <p:regular r:id="rId19"/>
    </p:embeddedFont>
    <p:embeddedFont>
      <p:font typeface="Nunito Semi Bold"/>
      <p:regular r:id="rId20"/>
    </p:embeddedFont>
    <p:embeddedFont>
      <p:font typeface="PT Sans"/>
      <p:regular r:id="rId21"/>
    </p:embeddedFont>
    <p:embeddedFont>
      <p:font typeface="PT Sans"/>
      <p:regular r:id="rId22"/>
    </p:embeddedFont>
    <p:embeddedFont>
      <p:font typeface="PT Sans"/>
      <p:regular r:id="rId23"/>
    </p:embeddedFont>
    <p:embeddedFont>
      <p:font typeface="PT Sans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arget="../media/image-1-1.jpeg" Type="http://schemas.openxmlformats.org/officeDocument/2006/relationships/image"/><Relationship Id="rId2" Target="../slideLayouts/slideLayout2.xml" Type="http://schemas.openxmlformats.org/officeDocument/2006/relationships/slideLayout"/><Relationship Id="rId3" Target="../notesSlides/notesSlide1.xml" Type="http://schemas.openxmlformats.org/officeDocument/2006/relationships/notesSlide"/></Relationships>
</file>

<file path=ppt/slides/_rels/slide2.xml.rels><?xml version="1.0" encoding="UTF-8" standalone="yes" ?><Relationships xmlns="http://schemas.openxmlformats.org/package/2006/relationships"><Relationship Id="rId1" Target="../media/image-2-1.jpeg" Type="http://schemas.openxmlformats.org/officeDocument/2006/relationships/image"/><Relationship Id="rId2" Target="../slideLayouts/slideLayout3.xml" Type="http://schemas.openxmlformats.org/officeDocument/2006/relationships/slideLayout"/><Relationship Id="rId3" Target="../notesSlides/notesSlide2.xml" Type="http://schemas.openxmlformats.org/officeDocument/2006/relationships/notesSlide"/></Relationships>
</file>

<file path=ppt/slides/_rels/slide3.xml.rels><?xml version="1.0" encoding="UTF-8" standalone="yes" ?><Relationships xmlns="http://schemas.openxmlformats.org/package/2006/relationships"><Relationship Id="rId1" Target="../media/image-3-1.jpeg" Type="http://schemas.openxmlformats.org/officeDocument/2006/relationships/image"/><Relationship Id="rId2" Target="../slideLayouts/slideLayout4.xml" Type="http://schemas.openxmlformats.org/officeDocument/2006/relationships/slideLayout"/><Relationship Id="rId3" Target="../notesSlides/notesSlide3.xml" Type="http://schemas.openxmlformats.org/officeDocument/2006/relationships/notesSlide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 ?><Relationships xmlns="http://schemas.openxmlformats.org/package/2006/relationships"><Relationship Id="rId1" Target="../media/image-5-1.jpeg" Type="http://schemas.openxmlformats.org/officeDocument/2006/relationships/image"/><Relationship Id="rId2" Target="../media/image-5-2.png" Type="http://schemas.openxmlformats.org/officeDocument/2006/relationships/image"/><Relationship Id="rId3" Target="../media/image-5-3.svg" Type="http://schemas.openxmlformats.org/officeDocument/2006/relationships/image"/><Relationship Id="rId4" Target="../media/image-5-4.png" Type="http://schemas.openxmlformats.org/officeDocument/2006/relationships/image"/><Relationship Id="rId5" Target="../media/image-5-5.svg" Type="http://schemas.openxmlformats.org/officeDocument/2006/relationships/image"/><Relationship Id="rId6" Target="../media/image-5-6.png" Type="http://schemas.openxmlformats.org/officeDocument/2006/relationships/image"/><Relationship Id="rId7" Target="../media/image-5-7.svg" Type="http://schemas.openxmlformats.org/officeDocument/2006/relationships/image"/><Relationship Id="rId8" Target="../media/image-5-8.png" Type="http://schemas.openxmlformats.org/officeDocument/2006/relationships/image"/><Relationship Id="rId9" Target="../media/image-5-9.svg" Type="http://schemas.openxmlformats.org/officeDocument/2006/relationships/image"/><Relationship Id="rId10" Target="../slideLayouts/slideLayout6.xml" Type="http://schemas.openxmlformats.org/officeDocument/2006/relationships/slideLayout"/><Relationship Id="rId11" Target="../notesSlides/notesSlide5.xml" Type="http://schemas.openxmlformats.org/officeDocument/2006/relationships/notesSlide"/></Relationships>
</file>

<file path=ppt/slides/_rels/slide6.xml.rels><?xml version="1.0" encoding="UTF-8" standalone="yes" ?><Relationships xmlns="http://schemas.openxmlformats.org/package/2006/relationships"><Relationship Id="rId1" Target="../media/image-6-1.jpeg" Type="http://schemas.openxmlformats.org/officeDocument/2006/relationships/image"/><Relationship Id="rId2" Target="../slideLayouts/slideLayout7.xml" Type="http://schemas.openxmlformats.org/officeDocument/2006/relationships/slideLayout"/><Relationship Id="rId3" Target="../notesSlides/notesSlide6.xml" Type="http://schemas.openxmlformats.org/officeDocument/2006/relationships/notesSlide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slideLayout" Target="../slideLayouts/slideLayout10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 ?><Relationships xmlns="http://schemas.openxmlformats.org/package/2006/relationships"><Relationship Id="rId1" Target="../media/image-10-1.jpeg" Type="http://schemas.openxmlformats.org/officeDocument/2006/relationships/image"/><Relationship Id="rId2" Target="../media/image-10-2.png" Type="http://schemas.openxmlformats.org/officeDocument/2006/relationships/image"/><Relationship Id="rId3" Target="../media/image-10-3.svg" Type="http://schemas.openxmlformats.org/officeDocument/2006/relationships/image"/><Relationship Id="rId4" Target="../media/image-10-4.png" Type="http://schemas.openxmlformats.org/officeDocument/2006/relationships/image"/><Relationship Id="rId5" Target="../media/image-10-5.svg" Type="http://schemas.openxmlformats.org/officeDocument/2006/relationships/image"/><Relationship Id="rId6" Target="../media/image-10-6.png" Type="http://schemas.openxmlformats.org/officeDocument/2006/relationships/image"/><Relationship Id="rId7" Target="../media/image-10-7.svg" Type="http://schemas.openxmlformats.org/officeDocument/2006/relationships/image"/><Relationship Id="rId8" Target="../media/image-10-8.png" Type="http://schemas.openxmlformats.org/officeDocument/2006/relationships/image"/><Relationship Id="rId9" Target="../media/image-10-9.svg" Type="http://schemas.openxmlformats.org/officeDocument/2006/relationships/image"/><Relationship Id="rId10" Target="../slideLayouts/slideLayout11.xml" Type="http://schemas.openxmlformats.org/officeDocument/2006/relationships/slideLayout"/><Relationship Id="rId11" Target="../notesSlides/notesSlide10.xml" Type="http://schemas.openxmlformats.org/officeDocument/2006/relationships/notesSlide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2848213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Customer Shopping Behavior Analysis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4615220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Uncovering insights from 3,900 purchases to guide strategic business decisions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2348151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Dataset Overview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3530798"/>
            <a:ext cx="2290048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6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3,900</a:t>
            </a:r>
            <a:endParaRPr lang="en-US" sz="6200" dirty="0"/>
          </a:p>
        </p:txBody>
      </p:sp>
      <p:sp>
        <p:nvSpPr>
          <p:cNvPr id="5" name="Text 2"/>
          <p:cNvSpPr/>
          <p:nvPr/>
        </p:nvSpPr>
        <p:spPr>
          <a:xfrm>
            <a:off x="837724" y="4619744"/>
            <a:ext cx="229004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Purchase Records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37724" y="5115282"/>
            <a:ext cx="2290048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Transactional data analyzed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3426976" y="3530798"/>
            <a:ext cx="2290048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6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18</a:t>
            </a:r>
            <a:endParaRPr lang="en-US" sz="6200" dirty="0"/>
          </a:p>
        </p:txBody>
      </p:sp>
      <p:sp>
        <p:nvSpPr>
          <p:cNvPr id="8" name="Text 5"/>
          <p:cNvSpPr/>
          <p:nvPr/>
        </p:nvSpPr>
        <p:spPr>
          <a:xfrm>
            <a:off x="3426976" y="4619744"/>
            <a:ext cx="229004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Data Fields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426976" y="5115282"/>
            <a:ext cx="2290048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Customer, purchase, and behavior metrics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6016228" y="3530798"/>
            <a:ext cx="2290048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6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37</a:t>
            </a:r>
            <a:endParaRPr lang="en-US" sz="6200" dirty="0"/>
          </a:p>
        </p:txBody>
      </p:sp>
      <p:sp>
        <p:nvSpPr>
          <p:cNvPr id="11" name="Text 8"/>
          <p:cNvSpPr/>
          <p:nvPr/>
        </p:nvSpPr>
        <p:spPr>
          <a:xfrm>
            <a:off x="6016228" y="4619744"/>
            <a:ext cx="229004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Missing Values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016228" y="5115282"/>
            <a:ext cx="2290048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Review ratings imputed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1851541"/>
            <a:ext cx="6369963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Python Data Preparation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315384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Data Cleaning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324124" y="3745111"/>
            <a:ext cx="3442335" cy="2549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Imported with pandas</a:t>
            </a:r>
            <a:endParaRPr lang="en-US" sz="185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Checked structure and statistics</a:t>
            </a:r>
            <a:endParaRPr lang="en-US" sz="185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Handled missing review ratings</a:t>
            </a:r>
            <a:endParaRPr lang="en-US" sz="185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Standardized column names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10357961" y="315384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357961" y="3745111"/>
            <a:ext cx="3442335" cy="2549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Created age groups</a:t>
            </a:r>
            <a:endParaRPr lang="en-US" sz="185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Calculated purchase frequency</a:t>
            </a:r>
            <a:endParaRPr lang="en-US" sz="185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Dropped redundant promo codes</a:t>
            </a:r>
            <a:endParaRPr lang="en-US" sz="185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Loaded to PostgreSQL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109305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Revenue by Gender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2529364" y="3847981"/>
            <a:ext cx="2944297" cy="598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700"/>
              </a:lnSpc>
              <a:buNone/>
            </a:pPr>
            <a:r>
              <a:rPr lang="en-US" sz="47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73%</a:t>
            </a:r>
            <a:endParaRPr lang="en-US" sz="4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6228" y="2351842"/>
            <a:ext cx="3590687" cy="35906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93538" y="624161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Male Customers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37724" y="6737152"/>
            <a:ext cx="632781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$157,890 revenue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9156502" y="3847981"/>
            <a:ext cx="2944297" cy="598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700"/>
              </a:lnSpc>
              <a:buNone/>
            </a:pPr>
            <a:r>
              <a:rPr lang="en-US" sz="47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27%</a:t>
            </a:r>
            <a:endParaRPr lang="en-US" sz="47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3366" y="2351842"/>
            <a:ext cx="3590687" cy="359068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220557" y="624161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Female Customers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464743" y="6737152"/>
            <a:ext cx="6327934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$75,191 revenue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9712" y="813078"/>
            <a:ext cx="3924300" cy="461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9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Top Products by Rating</a:t>
            </a:r>
            <a:endParaRPr lang="en-US" sz="2900" dirty="0"/>
          </a:p>
        </p:txBody>
      </p:sp>
      <p:sp>
        <p:nvSpPr>
          <p:cNvPr id="4" name="Shape 1"/>
          <p:cNvSpPr/>
          <p:nvPr/>
        </p:nvSpPr>
        <p:spPr>
          <a:xfrm>
            <a:off x="549712" y="1429583"/>
            <a:ext cx="8044577" cy="1419463"/>
          </a:xfrm>
          <a:prstGeom prst="roundRect">
            <a:avLst>
              <a:gd name="adj" fmla="val 16598"/>
            </a:avLst>
          </a:prstGeom>
          <a:solidFill>
            <a:srgbClr val="00002E"/>
          </a:solidFill>
          <a:ln w="15240">
            <a:solidFill>
              <a:srgbClr val="F2B42D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21995" y="1601867"/>
            <a:ext cx="471130" cy="471130"/>
          </a:xfrm>
          <a:prstGeom prst="roundRect">
            <a:avLst>
              <a:gd name="adj" fmla="val 19406715"/>
            </a:avLst>
          </a:prstGeom>
          <a:solidFill>
            <a:srgbClr val="F2B42D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1535" y="1731407"/>
            <a:ext cx="211931" cy="21193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21995" y="2175986"/>
            <a:ext cx="1847731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Gloves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721995" y="2468761"/>
            <a:ext cx="7700010" cy="208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3.86 average rating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49712" y="2952036"/>
            <a:ext cx="8044577" cy="1419463"/>
          </a:xfrm>
          <a:prstGeom prst="roundRect">
            <a:avLst>
              <a:gd name="adj" fmla="val 16598"/>
            </a:avLst>
          </a:prstGeom>
          <a:solidFill>
            <a:srgbClr val="00002E"/>
          </a:solidFill>
          <a:ln w="15240">
            <a:solidFill>
              <a:srgbClr val="D7425E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21995" y="3124319"/>
            <a:ext cx="471130" cy="471130"/>
          </a:xfrm>
          <a:prstGeom prst="roundRect">
            <a:avLst>
              <a:gd name="adj" fmla="val 19406715"/>
            </a:avLst>
          </a:prstGeom>
          <a:solidFill>
            <a:srgbClr val="D7425E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1535" y="3253859"/>
            <a:ext cx="211931" cy="21193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21995" y="3698438"/>
            <a:ext cx="1847731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Sandals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721995" y="3991213"/>
            <a:ext cx="7700010" cy="208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3.84 average rating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549712" y="4474488"/>
            <a:ext cx="8044577" cy="1419463"/>
          </a:xfrm>
          <a:prstGeom prst="roundRect">
            <a:avLst>
              <a:gd name="adj" fmla="val 16598"/>
            </a:avLst>
          </a:prstGeom>
          <a:solidFill>
            <a:srgbClr val="00002E"/>
          </a:solidFill>
          <a:ln w="15240">
            <a:solidFill>
              <a:srgbClr val="DD785E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21995" y="4646771"/>
            <a:ext cx="471130" cy="471130"/>
          </a:xfrm>
          <a:prstGeom prst="roundRect">
            <a:avLst>
              <a:gd name="adj" fmla="val 19406715"/>
            </a:avLst>
          </a:prstGeom>
          <a:solidFill>
            <a:srgbClr val="DD785E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1535" y="4776311"/>
            <a:ext cx="211931" cy="21193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21995" y="5220891"/>
            <a:ext cx="1847731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Boots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721995" y="5513665"/>
            <a:ext cx="7700010" cy="208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3.82 average rating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549712" y="5996940"/>
            <a:ext cx="8044577" cy="1419463"/>
          </a:xfrm>
          <a:prstGeom prst="roundRect">
            <a:avLst>
              <a:gd name="adj" fmla="val 16598"/>
            </a:avLst>
          </a:prstGeom>
          <a:solidFill>
            <a:srgbClr val="00002E"/>
          </a:solidFill>
          <a:ln w="15240">
            <a:solidFill>
              <a:srgbClr val="48A8E2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21995" y="6169223"/>
            <a:ext cx="471130" cy="471130"/>
          </a:xfrm>
          <a:prstGeom prst="roundRect">
            <a:avLst>
              <a:gd name="adj" fmla="val 19406715"/>
            </a:avLst>
          </a:prstGeom>
          <a:solidFill>
            <a:srgbClr val="48A8E2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1535" y="6298763"/>
            <a:ext cx="211931" cy="211931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21995" y="6743343"/>
            <a:ext cx="1847731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Hat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721995" y="7036118"/>
            <a:ext cx="7700010" cy="208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3.80 average rating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2045494"/>
            <a:ext cx="7397829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Shipping &amp; Discount Insights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37724" y="3108484"/>
            <a:ext cx="3614618" cy="1418153"/>
          </a:xfrm>
          <a:prstGeom prst="roundRect">
            <a:avLst>
              <a:gd name="adj" fmla="val 25320"/>
            </a:avLst>
          </a:prstGeom>
          <a:solidFill>
            <a:srgbClr val="00002E">
              <a:alpha val="75000"/>
            </a:srgbClr>
          </a:solidFill>
          <a:ln w="30480">
            <a:solidFill>
              <a:srgbClr val="F2B42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107519" y="337827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Express Shipping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07519" y="3873818"/>
            <a:ext cx="307502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$60.48 average purchase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4691658" y="3108484"/>
            <a:ext cx="3614618" cy="1418153"/>
          </a:xfrm>
          <a:prstGeom prst="roundRect">
            <a:avLst>
              <a:gd name="adj" fmla="val 25320"/>
            </a:avLst>
          </a:prstGeom>
          <a:solidFill>
            <a:srgbClr val="00002E">
              <a:alpha val="75000"/>
            </a:srgbClr>
          </a:solidFill>
          <a:ln w="30480">
            <a:solidFill>
              <a:srgbClr val="D742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61453" y="337827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Standard Shipping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61453" y="3873818"/>
            <a:ext cx="307502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$58.46 average purchase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837724" y="4765953"/>
            <a:ext cx="7468553" cy="1418153"/>
          </a:xfrm>
          <a:prstGeom prst="roundRect">
            <a:avLst>
              <a:gd name="adj" fmla="val 25320"/>
            </a:avLst>
          </a:prstGeom>
          <a:solidFill>
            <a:srgbClr val="00002E">
              <a:alpha val="75000"/>
            </a:srgbClr>
          </a:solidFill>
          <a:ln w="30480">
            <a:solidFill>
              <a:srgbClr val="DD78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07519" y="5035748"/>
            <a:ext cx="3958233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High-Spending Discount Users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107519" y="5531287"/>
            <a:ext cx="692896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839 customers used discounts above average</a:t>
            </a:r>
            <a:endParaRPr lang="en-US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6399" y="724972"/>
            <a:ext cx="4816316" cy="601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Subscription Impact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2702123" y="3007400"/>
            <a:ext cx="2517696" cy="511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27%</a:t>
            </a:r>
            <a:endParaRPr lang="en-US" sz="4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5898" y="1728073"/>
            <a:ext cx="3070384" cy="30703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57011" y="5024557"/>
            <a:ext cx="2408158" cy="30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Subscribers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716399" y="5430560"/>
            <a:ext cx="6489383" cy="303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1,053 customers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410224" y="3007400"/>
            <a:ext cx="2517696" cy="511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73%</a:t>
            </a:r>
            <a:endParaRPr lang="en-US" sz="4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3999" y="1728073"/>
            <a:ext cx="3070384" cy="30703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465112" y="5024557"/>
            <a:ext cx="2408158" cy="30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Non-Subscribers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7424499" y="5430560"/>
            <a:ext cx="6489502" cy="303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2,847 customers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16399" y="6106120"/>
            <a:ext cx="2408158" cy="30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Subscriber Average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716399" y="6582132"/>
            <a:ext cx="6349127" cy="303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$59.49 per purchase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16399" y="7043380"/>
            <a:ext cx="6349127" cy="303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$62,645 total revenue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572494" y="6106120"/>
            <a:ext cx="2696408" cy="30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Non-Subscriber Average</a:t>
            </a:r>
            <a:endParaRPr lang="en-US" sz="1850" dirty="0"/>
          </a:p>
        </p:txBody>
      </p:sp>
      <p:sp>
        <p:nvSpPr>
          <p:cNvPr id="15" name="Text 11"/>
          <p:cNvSpPr/>
          <p:nvPr/>
        </p:nvSpPr>
        <p:spPr>
          <a:xfrm>
            <a:off x="7572494" y="6582132"/>
            <a:ext cx="6349127" cy="303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$59.87 per purchase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7572494" y="7043380"/>
            <a:ext cx="6349127" cy="303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$170,436 total revenue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298019"/>
            <a:ext cx="7769542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Discount-Dependent Products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2839760"/>
            <a:ext cx="4158734" cy="1746766"/>
          </a:xfrm>
          <a:prstGeom prst="roundRect">
            <a:avLst>
              <a:gd name="adj" fmla="val 8376"/>
            </a:avLst>
          </a:prstGeom>
          <a:solidFill>
            <a:srgbClr val="00002E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37724" y="2809280"/>
            <a:ext cx="4158734" cy="121920"/>
          </a:xfrm>
          <a:prstGeom prst="roundRect">
            <a:avLst>
              <a:gd name="adj" fmla="val 294514"/>
            </a:avLst>
          </a:prstGeom>
          <a:solidFill>
            <a:srgbClr val="F2B42D"/>
          </a:solidFill>
          <a:ln/>
        </p:spPr>
      </p:sp>
      <p:sp>
        <p:nvSpPr>
          <p:cNvPr id="5" name="Shape 3"/>
          <p:cNvSpPr/>
          <p:nvPr/>
        </p:nvSpPr>
        <p:spPr>
          <a:xfrm>
            <a:off x="2557998" y="2480786"/>
            <a:ext cx="718066" cy="718066"/>
          </a:xfrm>
          <a:prstGeom prst="roundRect">
            <a:avLst>
              <a:gd name="adj" fmla="val 127342"/>
            </a:avLst>
          </a:prstGeom>
          <a:solidFill>
            <a:srgbClr val="F2B42D"/>
          </a:solidFill>
          <a:ln/>
        </p:spPr>
      </p:sp>
      <p:sp>
        <p:nvSpPr>
          <p:cNvPr id="6" name="Text 4"/>
          <p:cNvSpPr/>
          <p:nvPr/>
        </p:nvSpPr>
        <p:spPr>
          <a:xfrm>
            <a:off x="2773382" y="2660332"/>
            <a:ext cx="287179" cy="358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1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107519" y="343816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Hat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07519" y="3933706"/>
            <a:ext cx="361914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50.00% discounted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5235773" y="2839760"/>
            <a:ext cx="4158734" cy="1746766"/>
          </a:xfrm>
          <a:prstGeom prst="roundRect">
            <a:avLst>
              <a:gd name="adj" fmla="val 8376"/>
            </a:avLst>
          </a:prstGeom>
          <a:solidFill>
            <a:srgbClr val="00002E">
              <a:alpha val="7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235773" y="2809280"/>
            <a:ext cx="4158734" cy="121920"/>
          </a:xfrm>
          <a:prstGeom prst="roundRect">
            <a:avLst>
              <a:gd name="adj" fmla="val 294514"/>
            </a:avLst>
          </a:prstGeom>
          <a:solidFill>
            <a:srgbClr val="D7425E"/>
          </a:solidFill>
          <a:ln/>
        </p:spPr>
      </p:sp>
      <p:sp>
        <p:nvSpPr>
          <p:cNvPr id="11" name="Shape 9"/>
          <p:cNvSpPr/>
          <p:nvPr/>
        </p:nvSpPr>
        <p:spPr>
          <a:xfrm>
            <a:off x="6956048" y="2480786"/>
            <a:ext cx="718066" cy="718066"/>
          </a:xfrm>
          <a:prstGeom prst="roundRect">
            <a:avLst>
              <a:gd name="adj" fmla="val 127342"/>
            </a:avLst>
          </a:prstGeom>
          <a:solidFill>
            <a:srgbClr val="F2B42D"/>
          </a:solidFill>
          <a:ln/>
        </p:spPr>
      </p:sp>
      <p:sp>
        <p:nvSpPr>
          <p:cNvPr id="12" name="Text 10"/>
          <p:cNvSpPr/>
          <p:nvPr/>
        </p:nvSpPr>
        <p:spPr>
          <a:xfrm>
            <a:off x="7171432" y="2660332"/>
            <a:ext cx="287179" cy="358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2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5505569" y="343816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Sneakers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505569" y="3933706"/>
            <a:ext cx="361914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49.66% discounted</a:t>
            </a:r>
            <a:endParaRPr lang="en-US" sz="1850" dirty="0"/>
          </a:p>
        </p:txBody>
      </p:sp>
      <p:sp>
        <p:nvSpPr>
          <p:cNvPr id="15" name="Shape 13"/>
          <p:cNvSpPr/>
          <p:nvPr/>
        </p:nvSpPr>
        <p:spPr>
          <a:xfrm>
            <a:off x="9633823" y="2839760"/>
            <a:ext cx="4158853" cy="1746766"/>
          </a:xfrm>
          <a:prstGeom prst="roundRect">
            <a:avLst>
              <a:gd name="adj" fmla="val 8376"/>
            </a:avLst>
          </a:prstGeom>
          <a:solidFill>
            <a:srgbClr val="00002E">
              <a:alpha val="7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633823" y="2809280"/>
            <a:ext cx="4158853" cy="121920"/>
          </a:xfrm>
          <a:prstGeom prst="roundRect">
            <a:avLst>
              <a:gd name="adj" fmla="val 294514"/>
            </a:avLst>
          </a:prstGeom>
          <a:solidFill>
            <a:srgbClr val="DD785E"/>
          </a:solidFill>
          <a:ln/>
        </p:spPr>
      </p:sp>
      <p:sp>
        <p:nvSpPr>
          <p:cNvPr id="17" name="Shape 15"/>
          <p:cNvSpPr/>
          <p:nvPr/>
        </p:nvSpPr>
        <p:spPr>
          <a:xfrm>
            <a:off x="11354217" y="2480786"/>
            <a:ext cx="718066" cy="718066"/>
          </a:xfrm>
          <a:prstGeom prst="roundRect">
            <a:avLst>
              <a:gd name="adj" fmla="val 127342"/>
            </a:avLst>
          </a:prstGeom>
          <a:solidFill>
            <a:srgbClr val="F2B42D"/>
          </a:solidFill>
          <a:ln/>
        </p:spPr>
      </p:sp>
      <p:sp>
        <p:nvSpPr>
          <p:cNvPr id="18" name="Text 16"/>
          <p:cNvSpPr/>
          <p:nvPr/>
        </p:nvSpPr>
        <p:spPr>
          <a:xfrm>
            <a:off x="11569601" y="2660332"/>
            <a:ext cx="287179" cy="358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3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9903619" y="343816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Coat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903619" y="3933706"/>
            <a:ext cx="361926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49.07% discounted</a:t>
            </a:r>
            <a:endParaRPr lang="en-US" sz="1850" dirty="0"/>
          </a:p>
        </p:txBody>
      </p:sp>
      <p:sp>
        <p:nvSpPr>
          <p:cNvPr id="21" name="Shape 19"/>
          <p:cNvSpPr/>
          <p:nvPr/>
        </p:nvSpPr>
        <p:spPr>
          <a:xfrm>
            <a:off x="837724" y="5184815"/>
            <a:ext cx="6357818" cy="1746766"/>
          </a:xfrm>
          <a:prstGeom prst="roundRect">
            <a:avLst>
              <a:gd name="adj" fmla="val 8376"/>
            </a:avLst>
          </a:prstGeom>
          <a:solidFill>
            <a:srgbClr val="00002E">
              <a:alpha val="7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37724" y="5154335"/>
            <a:ext cx="6357818" cy="121920"/>
          </a:xfrm>
          <a:prstGeom prst="roundRect">
            <a:avLst>
              <a:gd name="adj" fmla="val 294514"/>
            </a:avLst>
          </a:prstGeom>
          <a:solidFill>
            <a:srgbClr val="48A8E2"/>
          </a:solidFill>
          <a:ln/>
        </p:spPr>
      </p:sp>
      <p:sp>
        <p:nvSpPr>
          <p:cNvPr id="23" name="Shape 21"/>
          <p:cNvSpPr/>
          <p:nvPr/>
        </p:nvSpPr>
        <p:spPr>
          <a:xfrm>
            <a:off x="3657540" y="4825841"/>
            <a:ext cx="718066" cy="718066"/>
          </a:xfrm>
          <a:prstGeom prst="roundRect">
            <a:avLst>
              <a:gd name="adj" fmla="val 127342"/>
            </a:avLst>
          </a:prstGeom>
          <a:solidFill>
            <a:srgbClr val="F2B42D"/>
          </a:solidFill>
          <a:ln/>
        </p:spPr>
      </p:sp>
      <p:sp>
        <p:nvSpPr>
          <p:cNvPr id="24" name="Text 22"/>
          <p:cNvSpPr/>
          <p:nvPr/>
        </p:nvSpPr>
        <p:spPr>
          <a:xfrm>
            <a:off x="3872925" y="5005388"/>
            <a:ext cx="287179" cy="358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4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107519" y="578322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Sweater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107519" y="6278761"/>
            <a:ext cx="581822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48.17% discounted</a:t>
            </a:r>
            <a:endParaRPr lang="en-US" sz="1850" dirty="0"/>
          </a:p>
        </p:txBody>
      </p:sp>
      <p:sp>
        <p:nvSpPr>
          <p:cNvPr id="27" name="Shape 25"/>
          <p:cNvSpPr/>
          <p:nvPr/>
        </p:nvSpPr>
        <p:spPr>
          <a:xfrm>
            <a:off x="7434858" y="5184815"/>
            <a:ext cx="6357818" cy="1746766"/>
          </a:xfrm>
          <a:prstGeom prst="roundRect">
            <a:avLst>
              <a:gd name="adj" fmla="val 8376"/>
            </a:avLst>
          </a:prstGeom>
          <a:solidFill>
            <a:srgbClr val="00002E">
              <a:alpha val="7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434858" y="5154335"/>
            <a:ext cx="6357818" cy="121920"/>
          </a:xfrm>
          <a:prstGeom prst="roundRect">
            <a:avLst>
              <a:gd name="adj" fmla="val 294514"/>
            </a:avLst>
          </a:prstGeom>
          <a:solidFill>
            <a:srgbClr val="59ABA9"/>
          </a:solidFill>
          <a:ln/>
        </p:spPr>
      </p:sp>
      <p:sp>
        <p:nvSpPr>
          <p:cNvPr id="29" name="Shape 27"/>
          <p:cNvSpPr/>
          <p:nvPr/>
        </p:nvSpPr>
        <p:spPr>
          <a:xfrm>
            <a:off x="10254675" y="4825841"/>
            <a:ext cx="718066" cy="718066"/>
          </a:xfrm>
          <a:prstGeom prst="roundRect">
            <a:avLst>
              <a:gd name="adj" fmla="val 127342"/>
            </a:avLst>
          </a:prstGeom>
          <a:solidFill>
            <a:srgbClr val="F2B42D"/>
          </a:solidFill>
          <a:ln/>
        </p:spPr>
      </p:sp>
      <p:sp>
        <p:nvSpPr>
          <p:cNvPr id="30" name="Text 28"/>
          <p:cNvSpPr/>
          <p:nvPr/>
        </p:nvSpPr>
        <p:spPr>
          <a:xfrm>
            <a:off x="10470059" y="5005388"/>
            <a:ext cx="287179" cy="358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5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7704653" y="578322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Pants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704653" y="6278761"/>
            <a:ext cx="581822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47.37% discounted</a:t>
            </a:r>
            <a:endParaRPr lang="en-US" sz="1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367909"/>
            <a:ext cx="6233755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Customer Segmentation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996803" y="2550676"/>
            <a:ext cx="2159079" cy="1357193"/>
          </a:xfrm>
          <a:prstGeom prst="roundRect">
            <a:avLst>
              <a:gd name="adj" fmla="val 26457"/>
            </a:avLst>
          </a:prstGeom>
          <a:solidFill>
            <a:srgbClr val="00002E"/>
          </a:solidFill>
          <a:ln w="22860">
            <a:solidFill>
              <a:srgbClr val="F2B42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07988" y="3060859"/>
            <a:ext cx="336590" cy="3365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395198" y="2789992"/>
            <a:ext cx="1681996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Loyal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395198" y="3285530"/>
            <a:ext cx="1681996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3,116 customers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5275540" y="3892629"/>
            <a:ext cx="8397478" cy="15240"/>
          </a:xfrm>
          <a:prstGeom prst="roundRect">
            <a:avLst>
              <a:gd name="adj" fmla="val 2356110"/>
            </a:avLst>
          </a:prstGeom>
          <a:solidFill>
            <a:srgbClr val="F2B42D"/>
          </a:solidFill>
          <a:ln/>
        </p:spPr>
      </p:sp>
      <p:sp>
        <p:nvSpPr>
          <p:cNvPr id="8" name="Shape 5"/>
          <p:cNvSpPr/>
          <p:nvPr/>
        </p:nvSpPr>
        <p:spPr>
          <a:xfrm>
            <a:off x="1917263" y="4027527"/>
            <a:ext cx="4318278" cy="1357193"/>
          </a:xfrm>
          <a:prstGeom prst="roundRect">
            <a:avLst>
              <a:gd name="adj" fmla="val 26457"/>
            </a:avLst>
          </a:prstGeom>
          <a:solidFill>
            <a:srgbClr val="00002E"/>
          </a:solidFill>
          <a:ln w="22860">
            <a:solidFill>
              <a:srgbClr val="D7425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08107" y="4537710"/>
            <a:ext cx="336590" cy="33659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74857" y="4266843"/>
            <a:ext cx="1497687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Returning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474857" y="4762381"/>
            <a:ext cx="149768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701 customers</a:t>
            </a:r>
            <a:endParaRPr lang="en-US" sz="1850" dirty="0"/>
          </a:p>
        </p:txBody>
      </p:sp>
      <p:sp>
        <p:nvSpPr>
          <p:cNvPr id="12" name="Shape 8"/>
          <p:cNvSpPr/>
          <p:nvPr/>
        </p:nvSpPr>
        <p:spPr>
          <a:xfrm>
            <a:off x="6355199" y="5369481"/>
            <a:ext cx="7317819" cy="15240"/>
          </a:xfrm>
          <a:prstGeom prst="roundRect">
            <a:avLst>
              <a:gd name="adj" fmla="val 2356110"/>
            </a:avLst>
          </a:prstGeom>
          <a:solidFill>
            <a:srgbClr val="D7425E"/>
          </a:solidFill>
          <a:ln/>
        </p:spPr>
      </p:sp>
      <p:sp>
        <p:nvSpPr>
          <p:cNvPr id="13" name="Shape 9"/>
          <p:cNvSpPr/>
          <p:nvPr/>
        </p:nvSpPr>
        <p:spPr>
          <a:xfrm>
            <a:off x="837724" y="5504378"/>
            <a:ext cx="6477476" cy="1357193"/>
          </a:xfrm>
          <a:prstGeom prst="roundRect">
            <a:avLst>
              <a:gd name="adj" fmla="val 26457"/>
            </a:avLst>
          </a:prstGeom>
          <a:solidFill>
            <a:srgbClr val="00002E"/>
          </a:solidFill>
          <a:ln w="22860">
            <a:solidFill>
              <a:srgbClr val="DD785E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08107" y="6014561"/>
            <a:ext cx="336590" cy="33659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554516" y="5743694"/>
            <a:ext cx="1367314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New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54516" y="6239232"/>
            <a:ext cx="1367314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83 customers</a:t>
            </a:r>
            <a:endParaRPr lang="en-US" sz="1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9712" y="813078"/>
            <a:ext cx="4726424" cy="461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9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Strategic Recommendations</a:t>
            </a:r>
            <a:endParaRPr lang="en-US" sz="2900" dirty="0"/>
          </a:p>
        </p:txBody>
      </p:sp>
      <p:sp>
        <p:nvSpPr>
          <p:cNvPr id="4" name="Shape 1"/>
          <p:cNvSpPr/>
          <p:nvPr/>
        </p:nvSpPr>
        <p:spPr>
          <a:xfrm>
            <a:off x="549712" y="1429583"/>
            <a:ext cx="8044577" cy="1419463"/>
          </a:xfrm>
          <a:prstGeom prst="roundRect">
            <a:avLst>
              <a:gd name="adj" fmla="val 16598"/>
            </a:avLst>
          </a:prstGeom>
          <a:solidFill>
            <a:srgbClr val="00002E"/>
          </a:solidFill>
          <a:ln w="15240">
            <a:solidFill>
              <a:srgbClr val="F2B42D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21995" y="1601867"/>
            <a:ext cx="471130" cy="471130"/>
          </a:xfrm>
          <a:prstGeom prst="roundRect">
            <a:avLst>
              <a:gd name="adj" fmla="val 19406715"/>
            </a:avLst>
          </a:prstGeom>
          <a:solidFill>
            <a:srgbClr val="F2B42D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1535" y="1731407"/>
            <a:ext cx="211931" cy="21193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21995" y="2175986"/>
            <a:ext cx="1847731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Boost Subscriptions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721995" y="2468761"/>
            <a:ext cx="7700010" cy="208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Promote exclusive subscriber benefits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49712" y="2952036"/>
            <a:ext cx="8044577" cy="1419463"/>
          </a:xfrm>
          <a:prstGeom prst="roundRect">
            <a:avLst>
              <a:gd name="adj" fmla="val 16598"/>
            </a:avLst>
          </a:prstGeom>
          <a:solidFill>
            <a:srgbClr val="00002E"/>
          </a:solidFill>
          <a:ln w="15240">
            <a:solidFill>
              <a:srgbClr val="D7425E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21995" y="3124319"/>
            <a:ext cx="471130" cy="471130"/>
          </a:xfrm>
          <a:prstGeom prst="roundRect">
            <a:avLst>
              <a:gd name="adj" fmla="val 19406715"/>
            </a:avLst>
          </a:prstGeom>
          <a:solidFill>
            <a:srgbClr val="D7425E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1535" y="3253859"/>
            <a:ext cx="211931" cy="21193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21995" y="3698438"/>
            <a:ext cx="1847731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Loyalty Programs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721995" y="3991213"/>
            <a:ext cx="7700010" cy="208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Reward repeat buyers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549712" y="4474488"/>
            <a:ext cx="8044577" cy="1419463"/>
          </a:xfrm>
          <a:prstGeom prst="roundRect">
            <a:avLst>
              <a:gd name="adj" fmla="val 16598"/>
            </a:avLst>
          </a:prstGeom>
          <a:solidFill>
            <a:srgbClr val="00002E"/>
          </a:solidFill>
          <a:ln w="15240">
            <a:solidFill>
              <a:srgbClr val="DD785E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21995" y="4646771"/>
            <a:ext cx="471130" cy="471130"/>
          </a:xfrm>
          <a:prstGeom prst="roundRect">
            <a:avLst>
              <a:gd name="adj" fmla="val 19406715"/>
            </a:avLst>
          </a:prstGeom>
          <a:solidFill>
            <a:srgbClr val="DD785E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1535" y="4776311"/>
            <a:ext cx="211931" cy="21193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21995" y="5220891"/>
            <a:ext cx="1956911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Review Discount Policy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721995" y="5513665"/>
            <a:ext cx="7700010" cy="208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Balance sales with margins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549712" y="5996940"/>
            <a:ext cx="8044577" cy="1419463"/>
          </a:xfrm>
          <a:prstGeom prst="roundRect">
            <a:avLst>
              <a:gd name="adj" fmla="val 16598"/>
            </a:avLst>
          </a:prstGeom>
          <a:solidFill>
            <a:srgbClr val="00002E"/>
          </a:solidFill>
          <a:ln w="15240">
            <a:solidFill>
              <a:srgbClr val="48A8E2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21995" y="6169223"/>
            <a:ext cx="471130" cy="471130"/>
          </a:xfrm>
          <a:prstGeom prst="roundRect">
            <a:avLst>
              <a:gd name="adj" fmla="val 19406715"/>
            </a:avLst>
          </a:prstGeom>
          <a:solidFill>
            <a:srgbClr val="48A8E2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1535" y="6298763"/>
            <a:ext cx="211931" cy="211931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21995" y="6743343"/>
            <a:ext cx="1847731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Targeted Marketing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721995" y="7036118"/>
            <a:ext cx="7700010" cy="208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Focus on high-revenue segments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2026-03-22T19:04:18Z</dcterms:created>
  <dcterms:modified xsi:type="dcterms:W3CDTF">2026-03-22T19:04:18Z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1870842</vt:lpwstr>
  </property>
  <property fmtid="{D5CDD505-2E9C-101B-9397-08002B2CF9AE}" name="NXPowerLiteSettings" pid="3">
    <vt:lpwstr>F7000400038000</vt:lpwstr>
  </property>
  <property fmtid="{D5CDD505-2E9C-101B-9397-08002B2CF9AE}" name="NXPowerLiteVersion" pid="4">
    <vt:lpwstr>S11.0.1</vt:lpwstr>
  </property>
</Properties>
</file>